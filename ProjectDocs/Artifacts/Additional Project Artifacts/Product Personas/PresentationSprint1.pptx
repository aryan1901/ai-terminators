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94" r:id="rId7"/>
    <p:sldId id="295" r:id="rId8"/>
    <p:sldId id="296" r:id="rId9"/>
    <p:sldId id="261" r:id="rId10"/>
    <p:sldId id="283" r:id="rId11"/>
    <p:sldId id="262" r:id="rId12"/>
    <p:sldId id="263" r:id="rId13"/>
    <p:sldId id="264" r:id="rId14"/>
    <p:sldId id="265" r:id="rId15"/>
    <p:sldId id="266" r:id="rId16"/>
    <p:sldId id="267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8" r:id="rId25"/>
    <p:sldId id="297" r:id="rId26"/>
    <p:sldId id="291" r:id="rId27"/>
    <p:sldId id="292" r:id="rId28"/>
    <p:sldId id="268" r:id="rId29"/>
    <p:sldId id="301" r:id="rId30"/>
    <p:sldId id="269" r:id="rId31"/>
    <p:sldId id="270" r:id="rId32"/>
    <p:sldId id="302" r:id="rId33"/>
    <p:sldId id="278" r:id="rId34"/>
    <p:sldId id="303" r:id="rId35"/>
    <p:sldId id="281" r:id="rId36"/>
    <p:sldId id="282" r:id="rId37"/>
    <p:sldId id="300" r:id="rId3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184" autoAdjust="0"/>
  </p:normalViewPr>
  <p:slideViewPr>
    <p:cSldViewPr snapToGrid="0" snapToObjects="1">
      <p:cViewPr varScale="1">
        <p:scale>
          <a:sx n="81" d="100"/>
          <a:sy n="81" d="100"/>
        </p:scale>
        <p:origin x="5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 patel" userId="e5b90b4565dd0cd9" providerId="LiveId" clId="{994CE35D-5CA4-407E-92DE-28C0C592A5EF}"/>
    <pc:docChg chg="custSel addSld delSld modSld sldOrd">
      <pc:chgData name="pratham patel" userId="e5b90b4565dd0cd9" providerId="LiveId" clId="{994CE35D-5CA4-407E-92DE-28C0C592A5EF}" dt="2026-03-10T15:12:07.494" v="146" actId="1076"/>
      <pc:docMkLst>
        <pc:docMk/>
      </pc:docMkLst>
      <pc:sldChg chg="modSp mod">
        <pc:chgData name="pratham patel" userId="e5b90b4565dd0cd9" providerId="LiveId" clId="{994CE35D-5CA4-407E-92DE-28C0C592A5EF}" dt="2026-03-10T15:08:25.312" v="8" actId="1076"/>
        <pc:sldMkLst>
          <pc:docMk/>
          <pc:sldMk cId="0" sldId="268"/>
        </pc:sldMkLst>
        <pc:picChg chg="mod">
          <ac:chgData name="pratham patel" userId="e5b90b4565dd0cd9" providerId="LiveId" clId="{994CE35D-5CA4-407E-92DE-28C0C592A5EF}" dt="2026-03-10T15:08:25.312" v="8" actId="1076"/>
          <ac:picMkLst>
            <pc:docMk/>
            <pc:sldMk cId="0" sldId="268"/>
            <ac:picMk id="7" creationId="{00000000-0000-0000-0000-000000000000}"/>
          </ac:picMkLst>
        </pc:picChg>
      </pc:sldChg>
      <pc:sldChg chg="addSp delSp modSp mod">
        <pc:chgData name="pratham patel" userId="e5b90b4565dd0cd9" providerId="LiveId" clId="{994CE35D-5CA4-407E-92DE-28C0C592A5EF}" dt="2026-03-10T15:11:03.160" v="137" actId="1076"/>
        <pc:sldMkLst>
          <pc:docMk/>
          <pc:sldMk cId="0" sldId="278"/>
        </pc:sldMkLst>
        <pc:picChg chg="add mod">
          <ac:chgData name="pratham patel" userId="e5b90b4565dd0cd9" providerId="LiveId" clId="{994CE35D-5CA4-407E-92DE-28C0C592A5EF}" dt="2026-03-10T15:11:03.160" v="137" actId="1076"/>
          <ac:picMkLst>
            <pc:docMk/>
            <pc:sldMk cId="0" sldId="278"/>
            <ac:picMk id="6" creationId="{C2132A7C-263B-CE72-EF52-6BF908331CDF}"/>
          </ac:picMkLst>
        </pc:picChg>
        <pc:picChg chg="del">
          <ac:chgData name="pratham patel" userId="e5b90b4565dd0cd9" providerId="LiveId" clId="{994CE35D-5CA4-407E-92DE-28C0C592A5EF}" dt="2026-03-10T15:10:29.970" v="130" actId="478"/>
          <ac:picMkLst>
            <pc:docMk/>
            <pc:sldMk cId="0" sldId="278"/>
            <ac:picMk id="7" creationId="{00000000-0000-0000-0000-000000000000}"/>
          </ac:picMkLst>
        </pc:picChg>
      </pc:sldChg>
      <pc:sldChg chg="del">
        <pc:chgData name="pratham patel" userId="e5b90b4565dd0cd9" providerId="LiveId" clId="{994CE35D-5CA4-407E-92DE-28C0C592A5EF}" dt="2026-03-10T15:08:00.356" v="0" actId="2696"/>
        <pc:sldMkLst>
          <pc:docMk/>
          <pc:sldMk cId="3948847602" sldId="299"/>
        </pc:sldMkLst>
      </pc:sldChg>
      <pc:sldChg chg="addSp modSp mod">
        <pc:chgData name="pratham patel" userId="e5b90b4565dd0cd9" providerId="LiveId" clId="{994CE35D-5CA4-407E-92DE-28C0C592A5EF}" dt="2026-03-10T15:08:17.335" v="6" actId="1076"/>
        <pc:sldMkLst>
          <pc:docMk/>
          <pc:sldMk cId="3934173675" sldId="301"/>
        </pc:sldMkLst>
        <pc:picChg chg="add mod">
          <ac:chgData name="pratham patel" userId="e5b90b4565dd0cd9" providerId="LiveId" clId="{994CE35D-5CA4-407E-92DE-28C0C592A5EF}" dt="2026-03-10T15:08:17.335" v="6" actId="1076"/>
          <ac:picMkLst>
            <pc:docMk/>
            <pc:sldMk cId="3934173675" sldId="301"/>
            <ac:picMk id="6" creationId="{4E55A355-1067-C9C2-91E1-AFBF4CD44F7C}"/>
          </ac:picMkLst>
        </pc:picChg>
      </pc:sldChg>
      <pc:sldChg chg="modSp add mod ord">
        <pc:chgData name="pratham patel" userId="e5b90b4565dd0cd9" providerId="LiveId" clId="{994CE35D-5CA4-407E-92DE-28C0C592A5EF}" dt="2026-03-10T15:10:22.664" v="129"/>
        <pc:sldMkLst>
          <pc:docMk/>
          <pc:sldMk cId="809379300" sldId="302"/>
        </pc:sldMkLst>
        <pc:spChg chg="mod">
          <ac:chgData name="pratham patel" userId="e5b90b4565dd0cd9" providerId="LiveId" clId="{994CE35D-5CA4-407E-92DE-28C0C592A5EF}" dt="2026-03-10T15:10:08.015" v="63" actId="20577"/>
          <ac:spMkLst>
            <pc:docMk/>
            <pc:sldMk cId="809379300" sldId="302"/>
            <ac:spMk id="2" creationId="{982D2DE5-368A-1543-0177-23A8F0E21C1E}"/>
          </ac:spMkLst>
        </pc:spChg>
        <pc:spChg chg="mod">
          <ac:chgData name="pratham patel" userId="e5b90b4565dd0cd9" providerId="LiveId" clId="{994CE35D-5CA4-407E-92DE-28C0C592A5EF}" dt="2026-03-10T15:10:16.242" v="127" actId="20577"/>
          <ac:spMkLst>
            <pc:docMk/>
            <pc:sldMk cId="809379300" sldId="302"/>
            <ac:spMk id="4" creationId="{CC877CA9-F916-887F-9E56-D66771A75EC7}"/>
          </ac:spMkLst>
        </pc:spChg>
      </pc:sldChg>
      <pc:sldChg chg="modSp new del mod">
        <pc:chgData name="pratham patel" userId="e5b90b4565dd0cd9" providerId="LiveId" clId="{994CE35D-5CA4-407E-92DE-28C0C592A5EF}" dt="2026-03-10T15:09:36.479" v="34" actId="47"/>
        <pc:sldMkLst>
          <pc:docMk/>
          <pc:sldMk cId="1552150446" sldId="302"/>
        </pc:sldMkLst>
        <pc:spChg chg="mod">
          <ac:chgData name="pratham patel" userId="e5b90b4565dd0cd9" providerId="LiveId" clId="{994CE35D-5CA4-407E-92DE-28C0C592A5EF}" dt="2026-03-10T15:09:26.250" v="33" actId="1076"/>
          <ac:spMkLst>
            <pc:docMk/>
            <pc:sldMk cId="1552150446" sldId="302"/>
            <ac:spMk id="2" creationId="{4E760807-FD98-54B0-766D-85B5C4E90C75}"/>
          </ac:spMkLst>
        </pc:spChg>
      </pc:sldChg>
      <pc:sldChg chg="new del">
        <pc:chgData name="pratham patel" userId="e5b90b4565dd0cd9" providerId="LiveId" clId="{994CE35D-5CA4-407E-92DE-28C0C592A5EF}" dt="2026-03-10T15:09:01.413" v="10" actId="47"/>
        <pc:sldMkLst>
          <pc:docMk/>
          <pc:sldMk cId="2563723600" sldId="302"/>
        </pc:sldMkLst>
      </pc:sldChg>
      <pc:sldChg chg="add del">
        <pc:chgData name="pratham patel" userId="e5b90b4565dd0cd9" providerId="LiveId" clId="{994CE35D-5CA4-407E-92DE-28C0C592A5EF}" dt="2026-03-10T15:09:49.902" v="36" actId="47"/>
        <pc:sldMkLst>
          <pc:docMk/>
          <pc:sldMk cId="3020113155" sldId="302"/>
        </pc:sldMkLst>
      </pc:sldChg>
      <pc:sldChg chg="addSp delSp modSp add mod">
        <pc:chgData name="pratham patel" userId="e5b90b4565dd0cd9" providerId="LiveId" clId="{994CE35D-5CA4-407E-92DE-28C0C592A5EF}" dt="2026-03-10T15:12:07.494" v="146" actId="1076"/>
        <pc:sldMkLst>
          <pc:docMk/>
          <pc:sldMk cId="1788257394" sldId="303"/>
        </pc:sldMkLst>
        <pc:picChg chg="del">
          <ac:chgData name="pratham patel" userId="e5b90b4565dd0cd9" providerId="LiveId" clId="{994CE35D-5CA4-407E-92DE-28C0C592A5EF}" dt="2026-03-10T15:11:52.684" v="139" actId="478"/>
          <ac:picMkLst>
            <pc:docMk/>
            <pc:sldMk cId="1788257394" sldId="303"/>
            <ac:picMk id="6" creationId="{C3E2D4A5-20E4-F238-9F0B-9F310B3D9529}"/>
          </ac:picMkLst>
        </pc:picChg>
        <pc:picChg chg="add mod">
          <ac:chgData name="pratham patel" userId="e5b90b4565dd0cd9" providerId="LiveId" clId="{994CE35D-5CA4-407E-92DE-28C0C592A5EF}" dt="2026-03-10T15:12:07.494" v="146" actId="1076"/>
          <ac:picMkLst>
            <pc:docMk/>
            <pc:sldMk cId="1788257394" sldId="303"/>
            <ac:picMk id="7" creationId="{82B476A0-CBD8-ED8B-B245-35DE260BE2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92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8AE4-E32A-B703-D6EC-B4D26C25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034F5-101C-F39F-8437-FF5F5B8D6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D25F8-156E-46A5-75E6-914742BC9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E1A02-BF8C-DEEE-AF9E-DB8387119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48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D130-421E-E047-CA93-9A3D7A3E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5A044-671D-2AB9-C845-919BBD7F2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6DA99-9204-305E-4A87-7C1F5F90F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16E5-4F9F-CB1E-8F93-8812063DAB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56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73A0-8245-ED3C-0B01-DA73161B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4F749-A43B-EC66-6759-C63007E0B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73092-5B09-BAF9-8B1D-9A996C9A8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D0278-EE74-5CBE-4A22-40C3CB4A6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89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552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410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266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351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0680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33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20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644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759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4830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205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539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3670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5704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755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5065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4332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5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1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46843" y="965224"/>
            <a:ext cx="50883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Toolkit Hub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4526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/>
              <a:t>Sprint 1 Presentation</a:t>
            </a:r>
          </a:p>
        </p:txBody>
      </p:sp>
      <p:sp>
        <p:nvSpPr>
          <p:cNvPr id="5" name="Text 3"/>
          <p:cNvSpPr/>
          <p:nvPr/>
        </p:nvSpPr>
        <p:spPr>
          <a:xfrm>
            <a:off x="914400" y="3216605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/>
              <a:t>A unified platform for translation, summarization, flashcards, voice translation, and text-to-speech</a:t>
            </a:r>
          </a:p>
        </p:txBody>
      </p:sp>
      <p:sp>
        <p:nvSpPr>
          <p:cNvPr id="6" name="Text 4"/>
          <p:cNvSpPr/>
          <p:nvPr/>
        </p:nvSpPr>
        <p:spPr>
          <a:xfrm>
            <a:off x="914400" y="4592512"/>
            <a:ext cx="715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Team:</a:t>
            </a:r>
          </a:p>
        </p:txBody>
      </p:sp>
      <p:pic>
        <p:nvPicPr>
          <p:cNvPr id="7" name="Image 0" descr="/mnt/data/a913ccf0-d49d-4597-9a3e-4bda81d8d73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263" y="2637982"/>
            <a:ext cx="3566160" cy="222885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1D5BD6B4-E8EA-6620-1092-EEBD8D88C515}"/>
              </a:ext>
            </a:extLst>
          </p:cNvPr>
          <p:cNvSpPr/>
          <p:nvPr/>
        </p:nvSpPr>
        <p:spPr>
          <a:xfrm>
            <a:off x="1630316" y="4592512"/>
            <a:ext cx="2861653" cy="119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Aryan Patel(U01999176)</a:t>
            </a:r>
          </a:p>
          <a:p>
            <a:r>
              <a:rPr lang="en-US" sz="1400" dirty="0"/>
              <a:t>Bansari Shah(U01983468)</a:t>
            </a:r>
          </a:p>
          <a:p>
            <a:r>
              <a:rPr lang="en-US" sz="1400" dirty="0"/>
              <a:t>Laxmi Prasanna(U01950459)</a:t>
            </a:r>
          </a:p>
          <a:p>
            <a:r>
              <a:rPr lang="en-US" sz="1400" dirty="0"/>
              <a:t>Pratham Patel(U02002338)</a:t>
            </a:r>
          </a:p>
          <a:p>
            <a:r>
              <a:rPr lang="en-US" sz="1400" dirty="0"/>
              <a:t>Vivek Pitroda(U01992349)</a:t>
            </a:r>
            <a:endParaRPr lang="en-US" sz="1400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95623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Sprint scope and deliverables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/>
              <a:t>Project overview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Team roles and working agreement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Technology stack and algorithms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System diagrams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Frontend and backend implementation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Sprint metrics and burndown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Completed work and demo</a:t>
            </a:r>
          </a:p>
        </p:txBody>
      </p:sp>
      <p:sp>
        <p:nvSpPr>
          <p:cNvPr id="9" name="Text 7"/>
          <p:cNvSpPr/>
          <p:nvPr/>
        </p:nvSpPr>
        <p:spPr>
          <a:xfrm>
            <a:off x="6666724" y="28510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01168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/>
              <a:t>Language translation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Text summarization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PDF to flashcards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Live voice translation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Text to speech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95715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50579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Target users, pain points, and solution hypothesis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F6F2894-C232-23FC-A9D8-8841399BE6C2}"/>
              </a:ext>
            </a:extLst>
          </p:cNvPr>
          <p:cNvSpPr/>
          <p:nvPr/>
        </p:nvSpPr>
        <p:spPr>
          <a:xfrm>
            <a:off x="681133" y="2291597"/>
            <a:ext cx="5495731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03DFFD9-7379-8636-4CCA-89F43140E645}"/>
              </a:ext>
            </a:extLst>
          </p:cNvPr>
          <p:cNvSpPr/>
          <p:nvPr/>
        </p:nvSpPr>
        <p:spPr>
          <a:xfrm>
            <a:off x="772574" y="2345713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EA0B4B1-782C-4213-5F83-EAB566251CE3}"/>
              </a:ext>
            </a:extLst>
          </p:cNvPr>
          <p:cNvSpPr/>
          <p:nvPr/>
        </p:nvSpPr>
        <p:spPr>
          <a:xfrm>
            <a:off x="772574" y="2665753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educators, professionals, and multilingual users working with long texts, PDFs, and cross-language communication</a:t>
            </a:r>
            <a:endParaRPr lang="en-US" sz="13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1730544-2B5B-C9F2-244C-B8EE0299A535}"/>
              </a:ext>
            </a:extLst>
          </p:cNvPr>
          <p:cNvSpPr/>
          <p:nvPr/>
        </p:nvSpPr>
        <p:spPr>
          <a:xfrm>
            <a:off x="6354147" y="2291597"/>
            <a:ext cx="4973219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FCF1ABB-8E08-C884-536A-674E427FBA86}"/>
              </a:ext>
            </a:extLst>
          </p:cNvPr>
          <p:cNvSpPr/>
          <p:nvPr/>
        </p:nvSpPr>
        <p:spPr>
          <a:xfrm>
            <a:off x="6354147" y="2391433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8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00289CF-7ED8-136B-B554-C67328B18B0C}"/>
              </a:ext>
            </a:extLst>
          </p:cNvPr>
          <p:cNvSpPr/>
          <p:nvPr/>
        </p:nvSpPr>
        <p:spPr>
          <a:xfrm>
            <a:off x="6385870" y="2703077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switching between multiple tools for translation, summarizing, studying, and voice translation</a:t>
            </a:r>
            <a:endParaRPr lang="en-US" sz="13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9D90834-D243-FF49-06C3-B8AD9E3FB8E0}"/>
              </a:ext>
            </a:extLst>
          </p:cNvPr>
          <p:cNvSpPr/>
          <p:nvPr/>
        </p:nvSpPr>
        <p:spPr>
          <a:xfrm>
            <a:off x="681134" y="3534433"/>
            <a:ext cx="10657426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F8940562-F230-71A8-4BFC-CB3A8D9AB35B}"/>
              </a:ext>
            </a:extLst>
          </p:cNvPr>
          <p:cNvSpPr/>
          <p:nvPr/>
        </p:nvSpPr>
        <p:spPr>
          <a:xfrm>
            <a:off x="772574" y="3625873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</a:t>
            </a:r>
            <a:endParaRPr lang="en-US" sz="18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9E050B76-0E45-25A6-765D-D867C00BC517}"/>
              </a:ext>
            </a:extLst>
          </p:cNvPr>
          <p:cNvSpPr/>
          <p:nvPr/>
        </p:nvSpPr>
        <p:spPr>
          <a:xfrm>
            <a:off x="864014" y="3945913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 across 3-5 apps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history and export options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translation doesn't pair with text records</a:t>
            </a:r>
            <a:endParaRPr lang="en-US" sz="12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479545DA-0FF3-C3AB-2735-7DA88272F84E}"/>
              </a:ext>
            </a:extLst>
          </p:cNvPr>
          <p:cNvSpPr/>
          <p:nvPr/>
        </p:nvSpPr>
        <p:spPr>
          <a:xfrm>
            <a:off x="681134" y="4631713"/>
            <a:ext cx="10646232" cy="1188720"/>
          </a:xfrm>
          <a:prstGeom prst="rect">
            <a:avLst/>
          </a:prstGeom>
          <a:solidFill>
            <a:schemeClr val="bg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B0983C8-C4B7-4FAA-0650-8A45B914ED99}"/>
              </a:ext>
            </a:extLst>
          </p:cNvPr>
          <p:cNvSpPr/>
          <p:nvPr/>
        </p:nvSpPr>
        <p:spPr>
          <a:xfrm>
            <a:off x="772574" y="4723153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52ABA31A-E72A-F3DF-C8BA-2D30F6FEC0A4}"/>
              </a:ext>
            </a:extLst>
          </p:cNvPr>
          <p:cNvSpPr/>
          <p:nvPr/>
        </p:nvSpPr>
        <p:spPr>
          <a:xfrm>
            <a:off x="772574" y="5043193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that building a single AI Toolkit Hub for students and multilingual professionals will reduce time spent switching tools and improve comprehension by combining language and study workflows into one unified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Roles &amp; Responsibilities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Role ownership across product, frontend, backend, AI/ML, and QA/DevOps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98A0EE7E-4493-D465-0EAC-9B5A5BD6B597}"/>
              </a:ext>
            </a:extLst>
          </p:cNvPr>
          <p:cNvSpPr/>
          <p:nvPr/>
        </p:nvSpPr>
        <p:spPr>
          <a:xfrm>
            <a:off x="2433425" y="1532085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47B51B6-5534-63D1-ADB0-75751C5AB202}"/>
              </a:ext>
            </a:extLst>
          </p:cNvPr>
          <p:cNvSpPr/>
          <p:nvPr/>
        </p:nvSpPr>
        <p:spPr>
          <a:xfrm>
            <a:off x="615817" y="2355045"/>
            <a:ext cx="10960366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BB1EA0C-A6E4-F18F-E382-B00DBFEA50B5}"/>
              </a:ext>
            </a:extLst>
          </p:cNvPr>
          <p:cNvSpPr/>
          <p:nvPr/>
        </p:nvSpPr>
        <p:spPr>
          <a:xfrm>
            <a:off x="615817" y="2355045"/>
            <a:ext cx="73152" cy="5943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47A6439-4D81-9B3A-BEFB-B0C34E7FC2A6}"/>
              </a:ext>
            </a:extLst>
          </p:cNvPr>
          <p:cNvSpPr/>
          <p:nvPr/>
        </p:nvSpPr>
        <p:spPr>
          <a:xfrm>
            <a:off x="798697" y="242819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9AD47CE-5B4E-9743-42E0-80712AAFF57E}"/>
              </a:ext>
            </a:extLst>
          </p:cNvPr>
          <p:cNvSpPr/>
          <p:nvPr/>
        </p:nvSpPr>
        <p:spPr>
          <a:xfrm>
            <a:off x="798697" y="267508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Aryan Patel</a:t>
            </a:r>
            <a:endParaRPr lang="en-US" sz="1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95A5005-ED8A-E60F-5CCC-0D4ADBAAF4F3}"/>
              </a:ext>
            </a:extLst>
          </p:cNvPr>
          <p:cNvSpPr/>
          <p:nvPr/>
        </p:nvSpPr>
        <p:spPr>
          <a:xfrm>
            <a:off x="3633337" y="24281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user stories, backlog priority, sprint planning</a:t>
            </a:r>
            <a:endParaRPr lang="en-US" sz="12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95C42BC-F38D-6D98-6FA2-840177FB0F78}"/>
              </a:ext>
            </a:extLst>
          </p:cNvPr>
          <p:cNvSpPr/>
          <p:nvPr/>
        </p:nvSpPr>
        <p:spPr>
          <a:xfrm>
            <a:off x="615817" y="3040845"/>
            <a:ext cx="10960366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1B85B9E5-48AE-075D-4E89-5DA92FA5EE30}"/>
              </a:ext>
            </a:extLst>
          </p:cNvPr>
          <p:cNvSpPr/>
          <p:nvPr/>
        </p:nvSpPr>
        <p:spPr>
          <a:xfrm>
            <a:off x="615817" y="3040845"/>
            <a:ext cx="73152" cy="5943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4A6400F-F1F5-AA6D-C63D-05F2EDC54BFD}"/>
              </a:ext>
            </a:extLst>
          </p:cNvPr>
          <p:cNvSpPr/>
          <p:nvPr/>
        </p:nvSpPr>
        <p:spPr>
          <a:xfrm>
            <a:off x="798697" y="311399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16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6B5549D-4E99-1E6C-3CA3-2E9A24B3A853}"/>
              </a:ext>
            </a:extLst>
          </p:cNvPr>
          <p:cNvSpPr/>
          <p:nvPr/>
        </p:nvSpPr>
        <p:spPr>
          <a:xfrm>
            <a:off x="798697" y="336088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Bansari Shah</a:t>
            </a:r>
            <a:endParaRPr lang="en-US" sz="12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BE802CC-97FA-5DD2-CB49-5C74BDE5AE65}"/>
              </a:ext>
            </a:extLst>
          </p:cNvPr>
          <p:cNvSpPr/>
          <p:nvPr/>
        </p:nvSpPr>
        <p:spPr>
          <a:xfrm>
            <a:off x="3633337" y="31139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React.js UI, Tailwind CSS, API integration, flashcard UI</a:t>
            </a:r>
            <a:endParaRPr lang="en-US" sz="12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BE6AFDA9-2C83-C7EA-D9F3-9715BF2E203B}"/>
              </a:ext>
            </a:extLst>
          </p:cNvPr>
          <p:cNvSpPr/>
          <p:nvPr/>
        </p:nvSpPr>
        <p:spPr>
          <a:xfrm>
            <a:off x="615817" y="3726645"/>
            <a:ext cx="10960366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A2435C3A-C302-19B5-CC98-AFCD8D408D53}"/>
              </a:ext>
            </a:extLst>
          </p:cNvPr>
          <p:cNvSpPr/>
          <p:nvPr/>
        </p:nvSpPr>
        <p:spPr>
          <a:xfrm>
            <a:off x="615817" y="3726645"/>
            <a:ext cx="73152" cy="5943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AD9F93C-0CD0-26CF-2358-AD3C667915B9}"/>
              </a:ext>
            </a:extLst>
          </p:cNvPr>
          <p:cNvSpPr/>
          <p:nvPr/>
        </p:nvSpPr>
        <p:spPr>
          <a:xfrm>
            <a:off x="798697" y="379979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6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193C088B-10A8-7210-65FC-024A0FC1F764}"/>
              </a:ext>
            </a:extLst>
          </p:cNvPr>
          <p:cNvSpPr/>
          <p:nvPr/>
        </p:nvSpPr>
        <p:spPr>
          <a:xfrm>
            <a:off x="798697" y="404668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Pratham Patel</a:t>
            </a:r>
            <a:endParaRPr lang="en-US" sz="12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BA535FA7-53AA-5AC6-CDCC-8F8B4CE80F8E}"/>
              </a:ext>
            </a:extLst>
          </p:cNvPr>
          <p:cNvSpPr/>
          <p:nvPr/>
        </p:nvSpPr>
        <p:spPr>
          <a:xfrm>
            <a:off x="3633337" y="37997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APIs, JWT authentication, database, endpoints</a:t>
            </a:r>
            <a:endParaRPr lang="en-US" sz="12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AF767538-834D-1265-C0CA-96DB33E5B49F}"/>
              </a:ext>
            </a:extLst>
          </p:cNvPr>
          <p:cNvSpPr/>
          <p:nvPr/>
        </p:nvSpPr>
        <p:spPr>
          <a:xfrm>
            <a:off x="615817" y="4412445"/>
            <a:ext cx="10960366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B1CF3732-7BAD-9E3E-728C-BD422D94A382}"/>
              </a:ext>
            </a:extLst>
          </p:cNvPr>
          <p:cNvSpPr/>
          <p:nvPr/>
        </p:nvSpPr>
        <p:spPr>
          <a:xfrm>
            <a:off x="615817" y="4412445"/>
            <a:ext cx="73152" cy="5943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5865046C-E23B-7549-D097-6D5763DA789E}"/>
              </a:ext>
            </a:extLst>
          </p:cNvPr>
          <p:cNvSpPr/>
          <p:nvPr/>
        </p:nvSpPr>
        <p:spPr>
          <a:xfrm>
            <a:off x="798697" y="448559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AI/ML Lead</a:t>
            </a:r>
            <a:endParaRPr lang="en-US" sz="16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4C9194B8-71E8-0B06-121D-6823A1AD9307}"/>
              </a:ext>
            </a:extLst>
          </p:cNvPr>
          <p:cNvSpPr/>
          <p:nvPr/>
        </p:nvSpPr>
        <p:spPr>
          <a:xfrm>
            <a:off x="798697" y="473248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Vivek Pitroda</a:t>
            </a:r>
            <a:endParaRPr lang="en-US" sz="12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3B8A6107-E109-6DFF-9C6F-AFFF00358AF2}"/>
              </a:ext>
            </a:extLst>
          </p:cNvPr>
          <p:cNvSpPr/>
          <p:nvPr/>
        </p:nvSpPr>
        <p:spPr>
          <a:xfrm>
            <a:off x="3633337" y="44855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API integration, prompt design, PDF to flashcard logic</a:t>
            </a:r>
            <a:endParaRPr lang="en-US" sz="12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8D32E08E-952A-7D94-099A-8DFE89AB9E07}"/>
              </a:ext>
            </a:extLst>
          </p:cNvPr>
          <p:cNvSpPr/>
          <p:nvPr/>
        </p:nvSpPr>
        <p:spPr>
          <a:xfrm>
            <a:off x="615817" y="5098245"/>
            <a:ext cx="10960366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69B3047B-4A2F-6518-577F-B82D87123198}"/>
              </a:ext>
            </a:extLst>
          </p:cNvPr>
          <p:cNvSpPr/>
          <p:nvPr/>
        </p:nvSpPr>
        <p:spPr>
          <a:xfrm>
            <a:off x="615817" y="5098245"/>
            <a:ext cx="73152" cy="5943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77DC323D-7175-B750-5161-160BC7D484BB}"/>
              </a:ext>
            </a:extLst>
          </p:cNvPr>
          <p:cNvSpPr/>
          <p:nvPr/>
        </p:nvSpPr>
        <p:spPr>
          <a:xfrm>
            <a:off x="798697" y="517139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QA/DevOps</a:t>
            </a:r>
            <a:endParaRPr lang="en-US" sz="160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66400739-940E-8805-AECD-170741FB5EB4}"/>
              </a:ext>
            </a:extLst>
          </p:cNvPr>
          <p:cNvSpPr/>
          <p:nvPr/>
        </p:nvSpPr>
        <p:spPr>
          <a:xfrm>
            <a:off x="798697" y="541828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Lakshmi Prasanna</a:t>
            </a:r>
            <a:endParaRPr lang="en-US" sz="12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8D2A3D51-64E4-3E4D-892E-E5A3BDA15835}"/>
              </a:ext>
            </a:extLst>
          </p:cNvPr>
          <p:cNvSpPr/>
          <p:nvPr/>
        </p:nvSpPr>
        <p:spPr>
          <a:xfrm>
            <a:off x="3633337" y="51713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Testing, GitHub workflow, deployment,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Working Agreement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Communication norms, meetings, work expectations, and accountability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DF933A8-2502-084E-0271-673D0B994409}"/>
              </a:ext>
            </a:extLst>
          </p:cNvPr>
          <p:cNvSpPr/>
          <p:nvPr/>
        </p:nvSpPr>
        <p:spPr>
          <a:xfrm>
            <a:off x="2732004" y="147610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A76B8B93-27D6-9AB2-D9BA-4112F4A65C3A}"/>
              </a:ext>
            </a:extLst>
          </p:cNvPr>
          <p:cNvSpPr/>
          <p:nvPr/>
        </p:nvSpPr>
        <p:spPr>
          <a:xfrm>
            <a:off x="615812" y="2299064"/>
            <a:ext cx="548018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86301C8-4260-120D-9295-7384DA001C21}"/>
              </a:ext>
            </a:extLst>
          </p:cNvPr>
          <p:cNvSpPr/>
          <p:nvPr/>
        </p:nvSpPr>
        <p:spPr>
          <a:xfrm>
            <a:off x="752972" y="2408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217D3DC-AEDE-9212-606E-4C6B1BB1B1A5}"/>
              </a:ext>
            </a:extLst>
          </p:cNvPr>
          <p:cNvSpPr/>
          <p:nvPr/>
        </p:nvSpPr>
        <p:spPr>
          <a:xfrm>
            <a:off x="844412" y="273797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Meet, WhatsApp, Notion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24-hour response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Early notification of unavailability</a:t>
            </a:r>
            <a:endParaRPr lang="en-US" sz="11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A69DB48-A005-DC0C-3575-848AECD9C00D}"/>
              </a:ext>
            </a:extLst>
          </p:cNvPr>
          <p:cNvSpPr/>
          <p:nvPr/>
        </p:nvSpPr>
        <p:spPr>
          <a:xfrm>
            <a:off x="6481044" y="2299064"/>
            <a:ext cx="5131836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BE721B9-3E51-9E9D-8D35-8A98283E68FF}"/>
              </a:ext>
            </a:extLst>
          </p:cNvPr>
          <p:cNvSpPr/>
          <p:nvPr/>
        </p:nvSpPr>
        <p:spPr>
          <a:xfrm>
            <a:off x="6618204" y="2408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5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B164B37-96B7-7FF8-6C73-73E723542ECE}"/>
              </a:ext>
            </a:extLst>
          </p:cNvPr>
          <p:cNvSpPr/>
          <p:nvPr/>
        </p:nvSpPr>
        <p:spPr>
          <a:xfrm>
            <a:off x="6709644" y="273797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Saturday 4-5pm (Virtual)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Monday 9-10pm (Virtual)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Wednesday 4:30-5:30pm (In-person)</a:t>
            </a:r>
            <a:endParaRPr lang="en-US" sz="11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19BC59D-4B8E-CCE5-DDF4-5DE30B78A481}"/>
              </a:ext>
            </a:extLst>
          </p:cNvPr>
          <p:cNvSpPr/>
          <p:nvPr/>
        </p:nvSpPr>
        <p:spPr>
          <a:xfrm>
            <a:off x="615812" y="4069082"/>
            <a:ext cx="548018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B4037E9-85EB-4963-E86A-49A24A641B20}"/>
              </a:ext>
            </a:extLst>
          </p:cNvPr>
          <p:cNvSpPr/>
          <p:nvPr/>
        </p:nvSpPr>
        <p:spPr>
          <a:xfrm>
            <a:off x="752972" y="417881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 Expectations</a:t>
            </a:r>
            <a:endParaRPr lang="en-US" sz="15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9FCF662-48E9-340D-20FC-A5EDC2AC81F6}"/>
              </a:ext>
            </a:extLst>
          </p:cNvPr>
          <p:cNvSpPr/>
          <p:nvPr/>
        </p:nvSpPr>
        <p:spPr>
          <a:xfrm>
            <a:off x="844412" y="4507994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assigned tasks by deadline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Reach out early if blocked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Fair workload distribution</a:t>
            </a:r>
            <a:endParaRPr lang="en-US" sz="11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B47D4DA-0161-9E4E-1537-F8D49C166D2F}"/>
              </a:ext>
            </a:extLst>
          </p:cNvPr>
          <p:cNvSpPr/>
          <p:nvPr/>
        </p:nvSpPr>
        <p:spPr>
          <a:xfrm>
            <a:off x="6481044" y="4069082"/>
            <a:ext cx="5131836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08FB396-89E9-8D53-58EA-F16393BC4602}"/>
              </a:ext>
            </a:extLst>
          </p:cNvPr>
          <p:cNvSpPr/>
          <p:nvPr/>
        </p:nvSpPr>
        <p:spPr>
          <a:xfrm>
            <a:off x="6618204" y="417881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&amp; Quality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4EEDE797-5E81-95A9-7543-E95C4135AEFD}"/>
              </a:ext>
            </a:extLst>
          </p:cNvPr>
          <p:cNvSpPr/>
          <p:nvPr/>
        </p:nvSpPr>
        <p:spPr>
          <a:xfrm>
            <a:off x="6709644" y="4507994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accountability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 on missed deadlines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 before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F808-6134-C0CE-97E3-6D11E468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Persona-1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1D7D-5E7D-8911-EA81-5C98523F4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1146" y="711200"/>
            <a:ext cx="5190066" cy="5308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Name:</a:t>
            </a:r>
            <a:r>
              <a:rPr lang="en-US" dirty="0"/>
              <a:t> Liam Chen</a:t>
            </a:r>
            <a:br>
              <a:rPr lang="en-US" dirty="0"/>
            </a:br>
            <a:r>
              <a:rPr lang="en-US" b="1" dirty="0"/>
              <a:t>Age:</a:t>
            </a:r>
            <a:r>
              <a:rPr lang="en-US" dirty="0"/>
              <a:t> 26</a:t>
            </a:r>
            <a:br>
              <a:rPr lang="en-US" dirty="0"/>
            </a:br>
            <a:r>
              <a:rPr lang="en-US" b="1" dirty="0"/>
              <a:t>Occupation:</a:t>
            </a:r>
            <a:r>
              <a:rPr lang="en-US" dirty="0"/>
              <a:t> Language Learner &amp; Content Creator</a:t>
            </a:r>
            <a:br>
              <a:rPr lang="en-US" dirty="0"/>
            </a:br>
            <a:r>
              <a:rPr lang="en-US" b="1" dirty="0"/>
              <a:t>Tech Skill Level:</a:t>
            </a:r>
            <a:r>
              <a:rPr lang="en-US" dirty="0"/>
              <a:t> Intermediate</a:t>
            </a:r>
          </a:p>
          <a:p>
            <a:pPr marL="0" indent="0">
              <a:buNone/>
            </a:pPr>
            <a:r>
              <a:rPr lang="en-US" b="1" dirty="0"/>
              <a:t>Background</a:t>
            </a:r>
            <a:br>
              <a:rPr lang="en-US" dirty="0"/>
            </a:br>
            <a:r>
              <a:rPr lang="en-US" dirty="0"/>
              <a:t>Liam is learning multiple languages and creates educational content online. He frequently uses speech and translation tools for language practice and accessibility.</a:t>
            </a:r>
          </a:p>
          <a:p>
            <a:pPr marL="0" indent="0">
              <a:buNone/>
            </a:pPr>
            <a:r>
              <a:rPr lang="en-US" b="1" dirty="0"/>
              <a:t>Goals</a:t>
            </a:r>
            <a:endParaRPr lang="en-US" dirty="0"/>
          </a:p>
          <a:p>
            <a:r>
              <a:rPr lang="en-US" dirty="0"/>
              <a:t>Practice speaking and translating languages in real time</a:t>
            </a:r>
          </a:p>
          <a:p>
            <a:r>
              <a:rPr lang="en-US" dirty="0"/>
              <a:t>Generate audio versions of text content</a:t>
            </a:r>
          </a:p>
          <a:p>
            <a:r>
              <a:rPr lang="en-US" dirty="0"/>
              <a:t>Improve language comprehension through translation tools</a:t>
            </a:r>
          </a:p>
          <a:p>
            <a:pPr marL="0" indent="0">
              <a:buNone/>
            </a:pPr>
            <a:r>
              <a:rPr lang="en-US" b="1" dirty="0"/>
              <a:t>Frustrations</a:t>
            </a:r>
            <a:endParaRPr lang="en-US" dirty="0"/>
          </a:p>
          <a:p>
            <a:r>
              <a:rPr lang="en-US" dirty="0"/>
              <a:t>Lack of real-time translation during conversations</a:t>
            </a:r>
          </a:p>
          <a:p>
            <a:r>
              <a:rPr lang="en-US" dirty="0"/>
              <a:t>Difficulty converting text to speech for accessibility</a:t>
            </a:r>
          </a:p>
          <a:p>
            <a:r>
              <a:rPr lang="en-US" dirty="0"/>
              <a:t>Switching between different apps for language learning</a:t>
            </a:r>
          </a:p>
          <a:p>
            <a:pPr marL="0" indent="0">
              <a:buNone/>
            </a:pPr>
            <a:r>
              <a:rPr lang="en-US" b="1" dirty="0"/>
              <a:t>How AI Toolkit Helps</a:t>
            </a:r>
            <a:endParaRPr lang="en-US" dirty="0"/>
          </a:p>
          <a:p>
            <a:r>
              <a:rPr lang="en-US" dirty="0"/>
              <a:t>Live Voice Translator enables real-time translation</a:t>
            </a:r>
          </a:p>
          <a:p>
            <a:r>
              <a:rPr lang="en-US" dirty="0"/>
              <a:t>Text-to-Speech converts written content into audio</a:t>
            </a:r>
          </a:p>
          <a:p>
            <a:r>
              <a:rPr lang="en-US" dirty="0"/>
              <a:t>Translator supports 50+ languages for learning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CBB65-FECD-5B58-120E-29AF7331B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Language Learner / Accessibility User</a:t>
            </a:r>
          </a:p>
        </p:txBody>
      </p:sp>
    </p:spTree>
    <p:extLst>
      <p:ext uri="{BB962C8B-B14F-4D97-AF65-F5344CB8AC3E}">
        <p14:creationId xmlns:p14="http://schemas.microsoft.com/office/powerpoint/2010/main" val="357702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A916-CCF1-5C15-523A-492F549C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Persona-2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AC2B-83A8-EAEF-9B88-E4C850C3D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Name:</a:t>
            </a:r>
            <a:r>
              <a:rPr lang="en-US" dirty="0"/>
              <a:t> Daniel Carter</a:t>
            </a:r>
            <a:br>
              <a:rPr lang="en-US" dirty="0"/>
            </a:br>
            <a:r>
              <a:rPr lang="en-US" b="1" dirty="0"/>
              <a:t>Age:</a:t>
            </a:r>
            <a:r>
              <a:rPr lang="en-US" dirty="0"/>
              <a:t> 32</a:t>
            </a:r>
            <a:br>
              <a:rPr lang="en-US" dirty="0"/>
            </a:br>
            <a:r>
              <a:rPr lang="en-US" b="1" dirty="0"/>
              <a:t>Occupation:</a:t>
            </a:r>
            <a:r>
              <a:rPr lang="en-US" dirty="0"/>
              <a:t> Marketing Manager</a:t>
            </a:r>
            <a:br>
              <a:rPr lang="en-US" dirty="0"/>
            </a:br>
            <a:r>
              <a:rPr lang="en-US" b="1" dirty="0"/>
              <a:t>Tech Skill Level:</a:t>
            </a:r>
            <a:r>
              <a:rPr lang="en-US" dirty="0"/>
              <a:t> Advanced</a:t>
            </a:r>
          </a:p>
          <a:p>
            <a:pPr marL="0" indent="0">
              <a:buNone/>
            </a:pPr>
            <a:r>
              <a:rPr lang="en-US" b="1" dirty="0"/>
              <a:t>Background</a:t>
            </a:r>
            <a:br>
              <a:rPr lang="en-US" dirty="0"/>
            </a:br>
            <a:r>
              <a:rPr lang="en-US" dirty="0"/>
              <a:t>	Daniel works in a global company and regularly communicates 	with international clients. He needs quick access to translation and 	content summarization tools to save time during work.</a:t>
            </a:r>
          </a:p>
          <a:p>
            <a:pPr marL="0" indent="0">
              <a:buNone/>
            </a:pPr>
            <a:r>
              <a:rPr lang="en-US" b="1" dirty="0"/>
              <a:t>Goals</a:t>
            </a:r>
            <a:endParaRPr lang="en-US" dirty="0"/>
          </a:p>
          <a:p>
            <a:r>
              <a:rPr lang="en-US" dirty="0"/>
              <a:t>Translate emails and documents quickly</a:t>
            </a:r>
          </a:p>
          <a:p>
            <a:r>
              <a:rPr lang="en-US" dirty="0"/>
              <a:t>Summarize long reports into key insights</a:t>
            </a:r>
          </a:p>
          <a:p>
            <a:r>
              <a:rPr lang="en-US" dirty="0"/>
              <a:t>Convert written content into audio for multitasking</a:t>
            </a:r>
          </a:p>
          <a:p>
            <a:pPr marL="0" indent="0">
              <a:buNone/>
            </a:pPr>
            <a:r>
              <a:rPr lang="en-US" b="1" dirty="0"/>
              <a:t>Frustrations</a:t>
            </a:r>
            <a:endParaRPr lang="en-US" dirty="0"/>
          </a:p>
          <a:p>
            <a:r>
              <a:rPr lang="en-US" dirty="0"/>
              <a:t>Spending too much time reading long reports</a:t>
            </a:r>
          </a:p>
          <a:p>
            <a:r>
              <a:rPr lang="en-US" dirty="0"/>
              <a:t>Difficulty communicating with clients in other languages</a:t>
            </a:r>
          </a:p>
          <a:p>
            <a:r>
              <a:rPr lang="en-US" dirty="0"/>
              <a:t>Using multiple separate AI tools</a:t>
            </a:r>
          </a:p>
          <a:p>
            <a:pPr marL="0" indent="0">
              <a:buNone/>
            </a:pPr>
            <a:r>
              <a:rPr lang="en-US" b="1" dirty="0"/>
              <a:t>How AI Toolkit Helps</a:t>
            </a:r>
            <a:endParaRPr lang="en-US" dirty="0"/>
          </a:p>
          <a:p>
            <a:r>
              <a:rPr lang="en-US" dirty="0"/>
              <a:t>Language Translator enables fast communication</a:t>
            </a:r>
          </a:p>
          <a:p>
            <a:r>
              <a:rPr lang="en-US" dirty="0"/>
              <a:t>Text Summarizer extracts key insights from reports</a:t>
            </a:r>
          </a:p>
          <a:p>
            <a:r>
              <a:rPr lang="en-US" dirty="0"/>
              <a:t>Text-to-Speech allows listening to documents while working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09E27-4F71-327C-76D6-67BE12C75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Busy Professional</a:t>
            </a:r>
          </a:p>
        </p:txBody>
      </p:sp>
    </p:spTree>
    <p:extLst>
      <p:ext uri="{BB962C8B-B14F-4D97-AF65-F5344CB8AC3E}">
        <p14:creationId xmlns:p14="http://schemas.microsoft.com/office/powerpoint/2010/main" val="286583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21E8-9A31-AC9B-DB79-BDA663517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Persona-3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35A4D-77E5-94B9-56BC-E9546D1AE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Name:</a:t>
            </a:r>
            <a:r>
              <a:rPr lang="en-US" dirty="0"/>
              <a:t> Maria Gonzalez</a:t>
            </a:r>
            <a:br>
              <a:rPr lang="en-US" dirty="0"/>
            </a:br>
            <a:r>
              <a:rPr lang="en-US" b="1" dirty="0"/>
              <a:t>Age:</a:t>
            </a:r>
            <a:r>
              <a:rPr lang="en-US" dirty="0"/>
              <a:t> 21</a:t>
            </a:r>
            <a:br>
              <a:rPr lang="en-US" dirty="0"/>
            </a:br>
            <a:r>
              <a:rPr lang="en-US" b="1" dirty="0"/>
              <a:t>Occupation:</a:t>
            </a:r>
            <a:r>
              <a:rPr lang="en-US" dirty="0"/>
              <a:t> University Student (International Student)</a:t>
            </a:r>
            <a:br>
              <a:rPr lang="en-US" dirty="0"/>
            </a:br>
            <a:r>
              <a:rPr lang="en-US" b="1" dirty="0"/>
              <a:t>Tech Skill Level:</a:t>
            </a:r>
            <a:r>
              <a:rPr lang="en-US" dirty="0"/>
              <a:t> Intermediate</a:t>
            </a:r>
          </a:p>
          <a:p>
            <a:pPr marL="0" indent="0">
              <a:buNone/>
            </a:pPr>
            <a:r>
              <a:rPr lang="en-US" b="1" dirty="0"/>
              <a:t>Background</a:t>
            </a:r>
            <a:br>
              <a:rPr lang="en-US" dirty="0"/>
            </a:br>
            <a:r>
              <a:rPr lang="en-US" dirty="0"/>
              <a:t>	Maria recently moved to the U.S. for university. English is not her first 	language, so she often struggles with understanding academic 	articles and lecture materials.</a:t>
            </a:r>
          </a:p>
          <a:p>
            <a:pPr marL="0" indent="0">
              <a:buNone/>
            </a:pPr>
            <a:r>
              <a:rPr lang="en-US" b="1" dirty="0"/>
              <a:t>Goals</a:t>
            </a:r>
            <a:endParaRPr lang="en-US" dirty="0"/>
          </a:p>
          <a:p>
            <a:r>
              <a:rPr lang="en-US" dirty="0"/>
              <a:t>Translate academic material quickly</a:t>
            </a:r>
          </a:p>
          <a:p>
            <a:r>
              <a:rPr lang="en-US" dirty="0"/>
              <a:t>Summarize long articles for studying</a:t>
            </a:r>
          </a:p>
          <a:p>
            <a:r>
              <a:rPr lang="en-US" dirty="0"/>
              <a:t>Convert lecture PDFs into flashcards for exam preparation</a:t>
            </a:r>
          </a:p>
          <a:p>
            <a:pPr marL="0" indent="0">
              <a:buNone/>
            </a:pPr>
            <a:r>
              <a:rPr lang="en-US" b="1" dirty="0"/>
              <a:t>Frustrations</a:t>
            </a:r>
            <a:endParaRPr lang="en-US" dirty="0"/>
          </a:p>
          <a:p>
            <a:r>
              <a:rPr lang="en-US" dirty="0"/>
              <a:t>Reading long academic papers in English</a:t>
            </a:r>
          </a:p>
          <a:p>
            <a:r>
              <a:rPr lang="en-US" dirty="0"/>
              <a:t>Manually creating study notes and flashcards</a:t>
            </a:r>
          </a:p>
          <a:p>
            <a:r>
              <a:rPr lang="en-US" dirty="0"/>
              <a:t>Switching between multiple tools for studying</a:t>
            </a:r>
          </a:p>
          <a:p>
            <a:pPr marL="0" indent="0">
              <a:buNone/>
            </a:pPr>
            <a:r>
              <a:rPr lang="en-US" b="1" dirty="0"/>
              <a:t>How AI Toolkit Helps</a:t>
            </a:r>
            <a:endParaRPr lang="en-US" dirty="0"/>
          </a:p>
          <a:p>
            <a:r>
              <a:rPr lang="en-US" dirty="0"/>
              <a:t>Language Translator helps translate complex content</a:t>
            </a:r>
          </a:p>
          <a:p>
            <a:r>
              <a:rPr lang="en-US" dirty="0"/>
              <a:t>Text Summarizer condenses long articles</a:t>
            </a:r>
          </a:p>
          <a:p>
            <a:r>
              <a:rPr lang="en-US" dirty="0"/>
              <a:t>PDF-to-Flashcards tool automatically creates study material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DB971-36B3-9A1F-23ED-29792199A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International Student</a:t>
            </a:r>
          </a:p>
        </p:txBody>
      </p:sp>
    </p:spTree>
    <p:extLst>
      <p:ext uri="{BB962C8B-B14F-4D97-AF65-F5344CB8AC3E}">
        <p14:creationId xmlns:p14="http://schemas.microsoft.com/office/powerpoint/2010/main" val="38071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428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Frontend, backend, AI services, and database stack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5691122C-34BB-9E7E-1E26-8C4BFADF818D}"/>
              </a:ext>
            </a:extLst>
          </p:cNvPr>
          <p:cNvSpPr/>
          <p:nvPr/>
        </p:nvSpPr>
        <p:spPr>
          <a:xfrm>
            <a:off x="1145805" y="139212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3A4BA2D0-0971-2FF5-C166-C62B9EFC841F}"/>
              </a:ext>
            </a:extLst>
          </p:cNvPr>
          <p:cNvSpPr/>
          <p:nvPr/>
        </p:nvSpPr>
        <p:spPr>
          <a:xfrm>
            <a:off x="597165" y="2317723"/>
            <a:ext cx="5860918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578946D-E028-0695-A169-CCEBC4FC367A}"/>
              </a:ext>
            </a:extLst>
          </p:cNvPr>
          <p:cNvSpPr/>
          <p:nvPr/>
        </p:nvSpPr>
        <p:spPr>
          <a:xfrm>
            <a:off x="597165" y="2317723"/>
            <a:ext cx="73152" cy="1463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0C1809A-2026-D242-1C05-3C7598394382}"/>
              </a:ext>
            </a:extLst>
          </p:cNvPr>
          <p:cNvSpPr/>
          <p:nvPr/>
        </p:nvSpPr>
        <p:spPr>
          <a:xfrm>
            <a:off x="825765" y="242745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5C39721-E0B8-F6AF-C7E1-6F773F3D1466}"/>
              </a:ext>
            </a:extLst>
          </p:cNvPr>
          <p:cNvSpPr/>
          <p:nvPr/>
        </p:nvSpPr>
        <p:spPr>
          <a:xfrm>
            <a:off x="917205" y="2774923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react-card-flip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590C3BAC-C5EF-6EB0-3FE4-46596E5DC4BB}"/>
              </a:ext>
            </a:extLst>
          </p:cNvPr>
          <p:cNvSpPr/>
          <p:nvPr/>
        </p:nvSpPr>
        <p:spPr>
          <a:xfrm>
            <a:off x="6704973" y="2317723"/>
            <a:ext cx="4889862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AAA9E4B-545E-2318-408C-BFA4D7B28912}"/>
              </a:ext>
            </a:extLst>
          </p:cNvPr>
          <p:cNvSpPr/>
          <p:nvPr/>
        </p:nvSpPr>
        <p:spPr>
          <a:xfrm>
            <a:off x="6704973" y="2317723"/>
            <a:ext cx="73152" cy="1463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2C6C09F-ADFA-A98F-50F7-12F891A68CDF}"/>
              </a:ext>
            </a:extLst>
          </p:cNvPr>
          <p:cNvSpPr/>
          <p:nvPr/>
        </p:nvSpPr>
        <p:spPr>
          <a:xfrm>
            <a:off x="6933573" y="242745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891F269-6373-1703-18C6-794907F06509}"/>
              </a:ext>
            </a:extLst>
          </p:cNvPr>
          <p:cNvSpPr/>
          <p:nvPr/>
        </p:nvSpPr>
        <p:spPr>
          <a:xfrm>
            <a:off x="7025013" y="2774923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6E985987-5196-3F2E-343A-504E8C32A4E6}"/>
              </a:ext>
            </a:extLst>
          </p:cNvPr>
          <p:cNvSpPr/>
          <p:nvPr/>
        </p:nvSpPr>
        <p:spPr>
          <a:xfrm>
            <a:off x="597164" y="3917923"/>
            <a:ext cx="5860919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A43C48DA-153A-F2B5-739F-30874299E190}"/>
              </a:ext>
            </a:extLst>
          </p:cNvPr>
          <p:cNvSpPr/>
          <p:nvPr/>
        </p:nvSpPr>
        <p:spPr>
          <a:xfrm>
            <a:off x="597165" y="3917923"/>
            <a:ext cx="73152" cy="1463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2F74D669-C8FC-AF84-7F05-43EA0C8E5C54}"/>
              </a:ext>
            </a:extLst>
          </p:cNvPr>
          <p:cNvSpPr/>
          <p:nvPr/>
        </p:nvSpPr>
        <p:spPr>
          <a:xfrm>
            <a:off x="825765" y="402765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6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FE34F4F-6BFB-FE1B-531E-8A11B8240CEA}"/>
              </a:ext>
            </a:extLst>
          </p:cNvPr>
          <p:cNvSpPr/>
          <p:nvPr/>
        </p:nvSpPr>
        <p:spPr>
          <a:xfrm>
            <a:off x="917205" y="4375123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MyMemory Translation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(BART, FLAN-T5)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DA768CDB-A169-F5A6-8624-BF8BDC1ACA2B}"/>
              </a:ext>
            </a:extLst>
          </p:cNvPr>
          <p:cNvSpPr/>
          <p:nvPr/>
        </p:nvSpPr>
        <p:spPr>
          <a:xfrm>
            <a:off x="6704972" y="3917923"/>
            <a:ext cx="4889861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4A418DA5-1775-61CC-A987-280E82B5AA22}"/>
              </a:ext>
            </a:extLst>
          </p:cNvPr>
          <p:cNvSpPr/>
          <p:nvPr/>
        </p:nvSpPr>
        <p:spPr>
          <a:xfrm>
            <a:off x="6704973" y="3917923"/>
            <a:ext cx="73152" cy="1463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6E06BD9-81B4-8BAF-14E1-DAC96F4840F2}"/>
              </a:ext>
            </a:extLst>
          </p:cNvPr>
          <p:cNvSpPr/>
          <p:nvPr/>
        </p:nvSpPr>
        <p:spPr>
          <a:xfrm>
            <a:off x="6933573" y="402765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FFF9E064-7D76-65E4-A4F9-077F09599333}"/>
              </a:ext>
            </a:extLst>
          </p:cNvPr>
          <p:cNvSpPr/>
          <p:nvPr/>
        </p:nvSpPr>
        <p:spPr>
          <a:xfrm>
            <a:off x="7025013" y="4375123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C6E8-02DE-A177-FB85-155E92E0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VIABLE PRODUCT (MVP)</a:t>
            </a:r>
            <a:b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F611-6A08-9645-1EBB-14B2177609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Minimum Viable Product (MVP)</a:t>
            </a:r>
            <a:r>
              <a:rPr lang="en-US" dirty="0"/>
              <a:t> for our project is a fully functional </a:t>
            </a:r>
            <a:r>
              <a:rPr lang="en-US" b="1" dirty="0"/>
              <a:t>end-to-end web application that allows users to securely create an account, log in, and interact with a personalized dashboard using a full-stack architecture.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718CD-7D85-A7E3-DE1D-E6910818C6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Core Features Included in the MVP:-</a:t>
            </a:r>
          </a:p>
          <a:p>
            <a:r>
              <a:rPr lang="en-US" dirty="0"/>
              <a:t>1. User Registration</a:t>
            </a:r>
          </a:p>
          <a:p>
            <a:r>
              <a:rPr lang="en-US" dirty="0"/>
              <a:t>2. User Login / Authentication</a:t>
            </a:r>
          </a:p>
          <a:p>
            <a:r>
              <a:rPr lang="en-US" dirty="0"/>
              <a:t>3. Dashboard Interface</a:t>
            </a:r>
          </a:p>
          <a:p>
            <a:r>
              <a:rPr lang="en-US" dirty="0"/>
              <a:t>4. Backend API Integration</a:t>
            </a:r>
          </a:p>
          <a:p>
            <a:r>
              <a:rPr lang="en-US" dirty="0"/>
              <a:t>5. Database Connectivity</a:t>
            </a:r>
          </a:p>
          <a:p>
            <a:r>
              <a:rPr lang="en-US" dirty="0"/>
              <a:t>6. API Testing</a:t>
            </a:r>
          </a:p>
        </p:txBody>
      </p:sp>
    </p:spTree>
    <p:extLst>
      <p:ext uri="{BB962C8B-B14F-4D97-AF65-F5344CB8AC3E}">
        <p14:creationId xmlns:p14="http://schemas.microsoft.com/office/powerpoint/2010/main" val="2409833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&amp; Processing Logic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How each feature is powered under the hood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012B120F-431D-1BDD-1800-72B66F728DB4}"/>
              </a:ext>
            </a:extLst>
          </p:cNvPr>
          <p:cNvSpPr/>
          <p:nvPr/>
        </p:nvSpPr>
        <p:spPr>
          <a:xfrm>
            <a:off x="1145794" y="127082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0CC33C1-773E-F2BD-B109-C04A540CF38B}"/>
              </a:ext>
            </a:extLst>
          </p:cNvPr>
          <p:cNvSpPr/>
          <p:nvPr/>
        </p:nvSpPr>
        <p:spPr>
          <a:xfrm>
            <a:off x="597154" y="18651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7400A90-39F1-737E-B3B8-6232AD0D02BB}"/>
              </a:ext>
            </a:extLst>
          </p:cNvPr>
          <p:cNvSpPr/>
          <p:nvPr/>
        </p:nvSpPr>
        <p:spPr>
          <a:xfrm>
            <a:off x="597154" y="2276668"/>
            <a:ext cx="11015726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79BF13D-42DF-F815-4288-97924AC3C536}"/>
              </a:ext>
            </a:extLst>
          </p:cNvPr>
          <p:cNvSpPr/>
          <p:nvPr/>
        </p:nvSpPr>
        <p:spPr>
          <a:xfrm>
            <a:off x="734314" y="23498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Translation</a:t>
            </a:r>
            <a:endParaRPr lang="en-US" sz="14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4F33949-9731-0EA5-B508-A862D37C86A2}"/>
              </a:ext>
            </a:extLst>
          </p:cNvPr>
          <p:cNvSpPr/>
          <p:nvPr/>
        </p:nvSpPr>
        <p:spPr>
          <a:xfrm>
            <a:off x="734314" y="256927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MyMemory API + rule-based handling</a:t>
            </a:r>
            <a:endParaRPr lang="en-US" sz="1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74A438A-5548-5F97-4EAF-5E154A60E9BC}"/>
              </a:ext>
            </a:extLst>
          </p:cNvPr>
          <p:cNvSpPr/>
          <p:nvPr/>
        </p:nvSpPr>
        <p:spPr>
          <a:xfrm>
            <a:off x="3157474" y="23498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language mapping, history logging</a:t>
            </a:r>
            <a:endParaRPr lang="en-US" sz="11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A2AC8CE-0CB9-5A21-524B-7B3D0C2629D0}"/>
              </a:ext>
            </a:extLst>
          </p:cNvPr>
          <p:cNvSpPr/>
          <p:nvPr/>
        </p:nvSpPr>
        <p:spPr>
          <a:xfrm>
            <a:off x="597154" y="2871028"/>
            <a:ext cx="11015726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893CBD3-5351-217B-B46B-A1AECCE6C6C2}"/>
              </a:ext>
            </a:extLst>
          </p:cNvPr>
          <p:cNvSpPr/>
          <p:nvPr/>
        </p:nvSpPr>
        <p:spPr>
          <a:xfrm>
            <a:off x="734314" y="29441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4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B0627BD-FF08-246E-3CCD-44F3F4AB8188}"/>
              </a:ext>
            </a:extLst>
          </p:cNvPr>
          <p:cNvSpPr/>
          <p:nvPr/>
        </p:nvSpPr>
        <p:spPr>
          <a:xfrm>
            <a:off x="734314" y="316363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facebook/bart-large-cnn</a:t>
            </a:r>
            <a:endParaRPr lang="en-US" sz="10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19CACE45-8203-BF82-BFCD-5F03A12C41E0}"/>
              </a:ext>
            </a:extLst>
          </p:cNvPr>
          <p:cNvSpPr/>
          <p:nvPr/>
        </p:nvSpPr>
        <p:spPr>
          <a:xfrm>
            <a:off x="3157474" y="29441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Length control, formatting logic, response cleanup</a:t>
            </a:r>
            <a:endParaRPr lang="en-US" sz="11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491CCE2-264B-6643-B059-71E605BD1A9C}"/>
              </a:ext>
            </a:extLst>
          </p:cNvPr>
          <p:cNvSpPr/>
          <p:nvPr/>
        </p:nvSpPr>
        <p:spPr>
          <a:xfrm>
            <a:off x="597154" y="3465388"/>
            <a:ext cx="11015726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048D8ED-933D-2205-9654-6D603BB40D5D}"/>
              </a:ext>
            </a:extLst>
          </p:cNvPr>
          <p:cNvSpPr/>
          <p:nvPr/>
        </p:nvSpPr>
        <p:spPr>
          <a:xfrm>
            <a:off x="734314" y="35385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PDF to Flashcards</a:t>
            </a:r>
            <a:endParaRPr lang="en-US" sz="14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BF2D1E4-3BBD-194F-FF5C-A64D92B1B6B1}"/>
              </a:ext>
            </a:extLst>
          </p:cNvPr>
          <p:cNvSpPr/>
          <p:nvPr/>
        </p:nvSpPr>
        <p:spPr>
          <a:xfrm>
            <a:off x="734314" y="37579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google/flan-t5-large + pdf-parse</a:t>
            </a: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07E59C02-CE7A-E541-CDE3-6BC84B9D6CD0}"/>
              </a:ext>
            </a:extLst>
          </p:cNvPr>
          <p:cNvSpPr/>
          <p:nvPr/>
        </p:nvSpPr>
        <p:spPr>
          <a:xfrm>
            <a:off x="3157474" y="35385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extraction, chunking, Q&amp;A generation, JSON formatting</a:t>
            </a:r>
            <a:endParaRPr lang="en-US" sz="11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A54F791D-E1F7-BE2B-27E9-1336E78C4144}"/>
              </a:ext>
            </a:extLst>
          </p:cNvPr>
          <p:cNvSpPr/>
          <p:nvPr/>
        </p:nvSpPr>
        <p:spPr>
          <a:xfrm>
            <a:off x="597154" y="4059748"/>
            <a:ext cx="11015726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54F89CF5-1437-7F1C-D846-900A1989EDDE}"/>
              </a:ext>
            </a:extLst>
          </p:cNvPr>
          <p:cNvSpPr/>
          <p:nvPr/>
        </p:nvSpPr>
        <p:spPr>
          <a:xfrm>
            <a:off x="734314" y="41329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Translation</a:t>
            </a:r>
            <a:endParaRPr lang="en-US" sz="14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C03501A-4445-D30E-8CCA-4950A1CBA0C9}"/>
              </a:ext>
            </a:extLst>
          </p:cNvPr>
          <p:cNvSpPr/>
          <p:nvPr/>
        </p:nvSpPr>
        <p:spPr>
          <a:xfrm>
            <a:off x="734314" y="435235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→ Translation → Synthesis</a:t>
            </a:r>
            <a:endParaRPr lang="en-US" sz="10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93F0184-FF10-7BCB-29B9-7CEAE7AAFDF5}"/>
              </a:ext>
            </a:extLst>
          </p:cNvPr>
          <p:cNvSpPr/>
          <p:nvPr/>
        </p:nvSpPr>
        <p:spPr>
          <a:xfrm>
            <a:off x="3157474" y="41329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transcription, API chaining, error fallback</a:t>
            </a:r>
            <a:endParaRPr lang="en-US" sz="11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8763C99E-8E1F-49FA-8227-7DD4856AD5AE}"/>
              </a:ext>
            </a:extLst>
          </p:cNvPr>
          <p:cNvSpPr/>
          <p:nvPr/>
        </p:nvSpPr>
        <p:spPr>
          <a:xfrm>
            <a:off x="597154" y="4654108"/>
            <a:ext cx="11015726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EE78B64C-4794-3C3A-7B3D-E643D975AEE4}"/>
              </a:ext>
            </a:extLst>
          </p:cNvPr>
          <p:cNvSpPr/>
          <p:nvPr/>
        </p:nvSpPr>
        <p:spPr>
          <a:xfrm>
            <a:off x="734314" y="47272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4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0BFD3DF3-F83B-0F59-0A78-4D14922BCB30}"/>
              </a:ext>
            </a:extLst>
          </p:cNvPr>
          <p:cNvSpPr/>
          <p:nvPr/>
        </p:nvSpPr>
        <p:spPr>
          <a:xfrm>
            <a:off x="734314" y="494671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A8665614-EB44-B4A1-B9CA-2A28FBE50CCC}"/>
              </a:ext>
            </a:extLst>
          </p:cNvPr>
          <p:cNvSpPr/>
          <p:nvPr/>
        </p:nvSpPr>
        <p:spPr>
          <a:xfrm>
            <a:off x="3157474" y="47272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Voice selection, pitch/rate control, playback management</a:t>
            </a:r>
            <a:endParaRPr lang="en-US" sz="11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727347E0-03A0-FA76-C667-856D5061B8BD}"/>
              </a:ext>
            </a:extLst>
          </p:cNvPr>
          <p:cNvSpPr/>
          <p:nvPr/>
        </p:nvSpPr>
        <p:spPr>
          <a:xfrm>
            <a:off x="597154" y="5248468"/>
            <a:ext cx="11015726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19BB4868-C898-BF77-833B-9C0BD3D9BA83}"/>
              </a:ext>
            </a:extLst>
          </p:cNvPr>
          <p:cNvSpPr/>
          <p:nvPr/>
        </p:nvSpPr>
        <p:spPr>
          <a:xfrm>
            <a:off x="734314" y="53216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0B9FC908-AEDA-8D92-DDE5-15948B3C50A0}"/>
              </a:ext>
            </a:extLst>
          </p:cNvPr>
          <p:cNvSpPr/>
          <p:nvPr/>
        </p:nvSpPr>
        <p:spPr>
          <a:xfrm>
            <a:off x="734314" y="554107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0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E2C513A8-A41C-AD61-74B5-758561E0ADD5}"/>
              </a:ext>
            </a:extLst>
          </p:cNvPr>
          <p:cNvSpPr/>
          <p:nvPr/>
        </p:nvSpPr>
        <p:spPr>
          <a:xfrm>
            <a:off x="3157474" y="53216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hashing, token generation, middleware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428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Diagram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Updated architecture diagram provided by the team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mermaid-diagram 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236" y="2453280"/>
            <a:ext cx="4545105" cy="399043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Diagram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Updated high-level system context with user and service interactions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mermaid-diagram 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69979"/>
            <a:ext cx="10881360" cy="3916214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428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 Diagram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Updated database design and entity relationships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mermaid-diagram (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2326530"/>
            <a:ext cx="10881360" cy="407519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Diagram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95715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50579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Updated interaction flow for the PDF-to-flashcards feature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mermaid-diagram 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39347"/>
            <a:ext cx="11064240" cy="4097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2947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Diagram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Updated state transitions for flashcard generation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mermaid-diagram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685" y="2472612"/>
            <a:ext cx="4488725" cy="38550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1F9B-9644-E92C-C567-FE55B42F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  BACKLOG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712995-97FC-B9CD-AC19-462851AED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76763"/>
              </p:ext>
            </p:extLst>
          </p:nvPr>
        </p:nvGraphicFramePr>
        <p:xfrm>
          <a:off x="1155700" y="2603500"/>
          <a:ext cx="8824911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637">
                  <a:extLst>
                    <a:ext uri="{9D8B030D-6E8A-4147-A177-3AD203B41FA5}">
                      <a16:colId xmlns:a16="http://schemas.microsoft.com/office/drawing/2014/main" val="1874235545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493390950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3784707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64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can create a new account (registration).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91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can log into the system securely.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51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authenticates users using JWT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42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can access a personalized dashboard.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35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stores user data securely in MongoDB.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360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443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BAE71-2A40-6E08-B1D6-31BC4021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7C5B-6744-09B8-F381-B3A305E8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  BACKLOG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BEE429-769A-B407-0556-05B42B18F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208233"/>
              </p:ext>
            </p:extLst>
          </p:nvPr>
        </p:nvGraphicFramePr>
        <p:xfrm>
          <a:off x="585519" y="2462908"/>
          <a:ext cx="10275522" cy="369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5174">
                  <a:extLst>
                    <a:ext uri="{9D8B030D-6E8A-4147-A177-3AD203B41FA5}">
                      <a16:colId xmlns:a16="http://schemas.microsoft.com/office/drawing/2014/main" val="361007244"/>
                    </a:ext>
                  </a:extLst>
                </a:gridCol>
                <a:gridCol w="3425174">
                  <a:extLst>
                    <a:ext uri="{9D8B030D-6E8A-4147-A177-3AD203B41FA5}">
                      <a16:colId xmlns:a16="http://schemas.microsoft.com/office/drawing/2014/main" val="2815019942"/>
                    </a:ext>
                  </a:extLst>
                </a:gridCol>
                <a:gridCol w="3425174">
                  <a:extLst>
                    <a:ext uri="{9D8B030D-6E8A-4147-A177-3AD203B41FA5}">
                      <a16:colId xmlns:a16="http://schemas.microsoft.com/office/drawing/2014/main" val="139995766"/>
                    </a:ext>
                  </a:extLst>
                </a:gridCol>
              </a:tblGrid>
              <a:tr h="284767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646759"/>
                  </a:ext>
                </a:extLst>
              </a:tr>
              <a:tr h="595000">
                <a:tc>
                  <a:txBody>
                    <a:bodyPr/>
                    <a:lstStyle/>
                    <a:p>
                      <a:r>
                        <a:rPr lang="en-US" dirty="0"/>
                        <a:t>US-06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 provides REST APIs for frontend communication.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106276"/>
                  </a:ext>
                </a:extLst>
              </a:tr>
              <a:tr h="595000">
                <a:tc>
                  <a:txBody>
                    <a:bodyPr/>
                    <a:lstStyle/>
                    <a:p>
                      <a:r>
                        <a:rPr lang="en-US" dirty="0"/>
                        <a:t>US-07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APIs are tested using Postman for reliability.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073347"/>
                  </a:ext>
                </a:extLst>
              </a:tr>
              <a:tr h="595000">
                <a:tc>
                  <a:txBody>
                    <a:bodyPr/>
                    <a:lstStyle/>
                    <a:p>
                      <a:r>
                        <a:rPr lang="en-US" dirty="0"/>
                        <a:t>US-08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Dashboard displays user information dynamically.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378990"/>
                  </a:ext>
                </a:extLst>
              </a:tr>
              <a:tr h="773500">
                <a:tc>
                  <a:txBody>
                    <a:bodyPr/>
                    <a:lstStyle/>
                    <a:p>
                      <a:r>
                        <a:rPr lang="en-US" dirty="0"/>
                        <a:t>US-09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 routes prevent unauthorized access.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525757"/>
                  </a:ext>
                </a:extLst>
              </a:tr>
              <a:tr h="595000">
                <a:tc>
                  <a:txBody>
                    <a:bodyPr/>
                    <a:lstStyle/>
                    <a:p>
                      <a:r>
                        <a:rPr lang="en-US" dirty="0"/>
                        <a:t>US-10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UI is responsive and user-friendly.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3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791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E39F-D27A-A169-4DD8-BDC0CFF0D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 &amp; USER STORIES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4370-C146-DC20-FD25-63CFD1452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2367280"/>
            <a:ext cx="3141878" cy="812484"/>
          </a:xfrm>
        </p:spPr>
        <p:txBody>
          <a:bodyPr/>
          <a:lstStyle/>
          <a:p>
            <a:r>
              <a:rPr lang="en-US" dirty="0"/>
              <a:t>Story 1 – User Registration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D51AA-7050-376C-F6D4-0420235AE667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User Story:</a:t>
            </a:r>
            <a:br>
              <a:rPr lang="en-US" dirty="0"/>
            </a:br>
            <a:r>
              <a:rPr lang="en-US" dirty="0"/>
              <a:t>As a user, I want to create an account so that I can access the system.</a:t>
            </a:r>
          </a:p>
          <a:p>
            <a:r>
              <a:rPr lang="en-US" b="1" dirty="0"/>
              <a:t>Acceptance Criteria:</a:t>
            </a:r>
            <a:endParaRPr lang="en-US" dirty="0"/>
          </a:p>
          <a:p>
            <a:r>
              <a:rPr lang="en-US" dirty="0"/>
              <a:t>User can enter name, email, and password</a:t>
            </a:r>
          </a:p>
          <a:p>
            <a:r>
              <a:rPr lang="en-US" dirty="0"/>
              <a:t>System validates all required input fields</a:t>
            </a:r>
          </a:p>
          <a:p>
            <a:r>
              <a:rPr lang="en-US" dirty="0"/>
              <a:t>Password is encrypted before storing in the database</a:t>
            </a:r>
          </a:p>
          <a:p>
            <a:r>
              <a:rPr lang="en-US" dirty="0"/>
              <a:t>User data is successfully saved in MongoDB</a:t>
            </a:r>
          </a:p>
          <a:p>
            <a:r>
              <a:rPr lang="en-US" dirty="0"/>
              <a:t>System displays confirmation message after registration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43971-4AE2-487C-9838-A100BE706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Story 2 – User Login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3C0B77-5C65-1F99-D7E0-5095DCD5BFA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User Story:</a:t>
            </a:r>
            <a:br>
              <a:rPr lang="en-US" dirty="0"/>
            </a:br>
            <a:r>
              <a:rPr lang="en-US" dirty="0"/>
              <a:t>As a registered user, I want to log into the system securely.</a:t>
            </a:r>
          </a:p>
          <a:p>
            <a:r>
              <a:rPr lang="en-US" b="1" dirty="0"/>
              <a:t>Acceptance Criteria:</a:t>
            </a:r>
            <a:endParaRPr lang="en-US" dirty="0"/>
          </a:p>
          <a:p>
            <a:r>
              <a:rPr lang="en-US" dirty="0"/>
              <a:t>User enters registered email and password</a:t>
            </a:r>
          </a:p>
          <a:p>
            <a:r>
              <a:rPr lang="en-US" dirty="0"/>
              <a:t>System verifies credentials from the database</a:t>
            </a:r>
          </a:p>
          <a:p>
            <a:r>
              <a:rPr lang="en-US" dirty="0"/>
              <a:t>JWT authentication token is generated upon successful login</a:t>
            </a:r>
          </a:p>
          <a:p>
            <a:r>
              <a:rPr lang="en-US" dirty="0"/>
              <a:t>Invalid credentials display an error message</a:t>
            </a:r>
          </a:p>
          <a:p>
            <a:r>
              <a:rPr lang="en-US" dirty="0"/>
              <a:t>User is redirected to the dashboard after login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1A8E01-E543-FC32-7706-59ED0E7EF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Story 3 – User Dashboard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8B885-53C9-DB8F-26D1-F01BA47401D0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User Story:</a:t>
            </a:r>
            <a:br>
              <a:rPr lang="en-US" dirty="0"/>
            </a:br>
            <a:r>
              <a:rPr lang="en-US" dirty="0"/>
              <a:t>As a logged-in user, I want to access a dashboard to view my account information.</a:t>
            </a:r>
          </a:p>
          <a:p>
            <a:r>
              <a:rPr lang="en-US" b="1" dirty="0"/>
              <a:t>Acceptance Criteria:</a:t>
            </a:r>
            <a:endParaRPr lang="en-US" dirty="0"/>
          </a:p>
          <a:p>
            <a:r>
              <a:rPr lang="en-US" dirty="0"/>
              <a:t>Only authenticated users can access the dashboard</a:t>
            </a:r>
          </a:p>
          <a:p>
            <a:r>
              <a:rPr lang="en-US" dirty="0"/>
              <a:t>User data is retrieved from the MongoDB database</a:t>
            </a:r>
          </a:p>
          <a:p>
            <a:r>
              <a:rPr lang="en-US" dirty="0"/>
              <a:t>Dashboard loads successfully after login</a:t>
            </a:r>
          </a:p>
          <a:p>
            <a:r>
              <a:rPr lang="en-US" dirty="0"/>
              <a:t>Unauthorized users are prevented from accessing protected routes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524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C21E-E3A2-D669-428E-5EA65EDE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80049BE-DDFC-91DD-744B-BC417278F2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614200"/>
              </p:ext>
            </p:extLst>
          </p:nvPr>
        </p:nvGraphicFramePr>
        <p:xfrm>
          <a:off x="1155700" y="2367281"/>
          <a:ext cx="8824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4282927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386687862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92442799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997048319"/>
                    </a:ext>
                  </a:extLst>
                </a:gridCol>
              </a:tblGrid>
              <a:tr h="332038">
                <a:tc>
                  <a:txBody>
                    <a:bodyPr/>
                    <a:lstStyle/>
                    <a:p>
                      <a:r>
                        <a:rPr lang="en-US" dirty="0"/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787875"/>
                  </a:ext>
                </a:extLst>
              </a:tr>
              <a:tr h="830094">
                <a:tc>
                  <a:txBody>
                    <a:bodyPr/>
                    <a:lstStyle/>
                    <a:p>
                      <a:r>
                        <a:rPr lang="en-US" dirty="0"/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Registration (Valid Input)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 valid name, email, and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 created and data stored in 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41242"/>
                  </a:ext>
                </a:extLst>
              </a:tr>
              <a:tr h="830094">
                <a:tc>
                  <a:txBody>
                    <a:bodyPr/>
                    <a:lstStyle/>
                    <a:p>
                      <a:r>
                        <a:rPr lang="en-US" dirty="0"/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Registration (Missing Fields)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Submit form with empty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 error message displayed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30264"/>
                  </a:ext>
                </a:extLst>
              </a:tr>
              <a:tr h="754000">
                <a:tc>
                  <a:txBody>
                    <a:bodyPr/>
                    <a:lstStyle/>
                    <a:p>
                      <a:r>
                        <a:rPr lang="en-US" dirty="0"/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Login (Valid Credentials)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 correct email and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successfully logged in and redirected to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255525"/>
                  </a:ext>
                </a:extLst>
              </a:tr>
              <a:tr h="830094">
                <a:tc>
                  <a:txBody>
                    <a:bodyPr/>
                    <a:lstStyle/>
                    <a:p>
                      <a:r>
                        <a:rPr lang="en-US" dirty="0"/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Login (Invalid Password)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 wrong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displays "Invalid credentials"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07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86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9674-D95B-B426-76B8-D6620B2A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97F3-417D-8694-1A33-F5A1EC3C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411333-CA51-F322-4C50-4BE7E265A7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893661"/>
              </p:ext>
            </p:extLst>
          </p:nvPr>
        </p:nvGraphicFramePr>
        <p:xfrm>
          <a:off x="1338580" y="2174241"/>
          <a:ext cx="8824912" cy="4714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4282927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386687862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92442799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997048319"/>
                    </a:ext>
                  </a:extLst>
                </a:gridCol>
              </a:tblGrid>
              <a:tr h="377139">
                <a:tc>
                  <a:txBody>
                    <a:bodyPr/>
                    <a:lstStyle/>
                    <a:p>
                      <a:r>
                        <a:rPr lang="en-US" dirty="0"/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787875"/>
                  </a:ext>
                </a:extLst>
              </a:tr>
              <a:tr h="1225703">
                <a:tc>
                  <a:txBody>
                    <a:bodyPr/>
                    <a:lstStyle/>
                    <a:p>
                      <a:r>
                        <a:rPr lang="en-US" dirty="0"/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Unauthorized Dashboard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Attempt to access dashboard without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denied and redirected to login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41242"/>
                  </a:ext>
                </a:extLst>
              </a:tr>
              <a:tr h="1225703">
                <a:tc>
                  <a:txBody>
                    <a:bodyPr/>
                    <a:lstStyle/>
                    <a:p>
                      <a:r>
                        <a:rPr lang="en-US" dirty="0"/>
                        <a:t>TC-06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API Test (Postman)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 POST request to registration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data stored successfully in database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30264"/>
                  </a:ext>
                </a:extLst>
              </a:tr>
              <a:tr h="942848">
                <a:tc>
                  <a:txBody>
                    <a:bodyPr/>
                    <a:lstStyle/>
                    <a:p>
                      <a:r>
                        <a:rPr lang="en-US" dirty="0"/>
                        <a:t>TC-07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API Test (Postman)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 POST request to login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 authentication token returned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255525"/>
                  </a:ext>
                </a:extLst>
              </a:tr>
              <a:tr h="9428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07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462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C2DA-F0E0-855C-26A8-F1B2D041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STROIES COMPLETED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B1D1F-5040-B44B-8D61-D48B59CD8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registration functionality implemented</a:t>
            </a:r>
          </a:p>
          <a:p>
            <a:r>
              <a:rPr lang="en-US" dirty="0"/>
              <a:t>Secure login system with JWT authentication</a:t>
            </a:r>
          </a:p>
          <a:p>
            <a:r>
              <a:rPr lang="en-US" dirty="0"/>
              <a:t>MongoDB database connection established</a:t>
            </a:r>
          </a:p>
          <a:p>
            <a:r>
              <a:rPr lang="en-US" dirty="0"/>
              <a:t>User data successfully stored in database</a:t>
            </a:r>
          </a:p>
          <a:p>
            <a:r>
              <a:rPr lang="en-US" dirty="0"/>
              <a:t>Basic dashboard interface created</a:t>
            </a:r>
          </a:p>
          <a:p>
            <a:r>
              <a:rPr lang="en-US" dirty="0"/>
              <a:t>Frontend connected to backend APIs</a:t>
            </a:r>
          </a:p>
          <a:p>
            <a:r>
              <a:rPr lang="en-US" dirty="0"/>
              <a:t>API testing performed using Postman</a:t>
            </a:r>
          </a:p>
        </p:txBody>
      </p:sp>
    </p:spTree>
    <p:extLst>
      <p:ext uri="{BB962C8B-B14F-4D97-AF65-F5344CB8AC3E}">
        <p14:creationId xmlns:p14="http://schemas.microsoft.com/office/powerpoint/2010/main" val="3311784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B55E-5E04-13B4-1D57-CACEF3CFC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3FDD-A051-54B7-724B-360ECB30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STROIES NOT COMPLETED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9752C-0F2C-2B5E-AA02-3568EF958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deployment to cloud platform</a:t>
            </a:r>
          </a:p>
          <a:p>
            <a:r>
              <a:rPr lang="en-US" dirty="0"/>
              <a:t>Mobile responsiveness optimization</a:t>
            </a:r>
          </a:p>
          <a:p>
            <a:r>
              <a:rPr lang="en-US" dirty="0"/>
              <a:t>UI/UX improvements for dashboard</a:t>
            </a:r>
          </a:p>
          <a:p>
            <a:r>
              <a:rPr lang="en-US" dirty="0"/>
              <a:t>Advanced dashboard analytics features</a:t>
            </a:r>
          </a:p>
        </p:txBody>
      </p:sp>
    </p:spTree>
    <p:extLst>
      <p:ext uri="{BB962C8B-B14F-4D97-AF65-F5344CB8AC3E}">
        <p14:creationId xmlns:p14="http://schemas.microsoft.com/office/powerpoint/2010/main" val="1977427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F8DF-26E6-A6C4-71ED-20E8E432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058F-69DB-78E5-2FA7-F0363519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4FB92-2474-63C0-3095-0E5443C96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Sprint Burndown Chart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5B018D6-94CC-32B3-F3D2-914302DB0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675" y="2186669"/>
            <a:ext cx="5189538" cy="309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53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3958-9FD6-E443-D3A2-FFC06540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6CD0DB-37F3-35B5-AE6F-1A232B4E5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675" y="2116187"/>
            <a:ext cx="5189538" cy="323522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38298-06F2-AB56-7326-519A91CF0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Team velocity</a:t>
            </a:r>
          </a:p>
          <a:p>
            <a:pPr algn="ctr"/>
            <a:r>
              <a:rPr lang="en-US" dirty="0"/>
              <a:t>&amp;</a:t>
            </a:r>
          </a:p>
          <a:p>
            <a:pPr algn="ctr"/>
            <a:r>
              <a:rPr lang="en-US" dirty="0"/>
              <a:t>Committed v/s completed work</a:t>
            </a:r>
          </a:p>
        </p:txBody>
      </p:sp>
    </p:spTree>
    <p:extLst>
      <p:ext uri="{BB962C8B-B14F-4D97-AF65-F5344CB8AC3E}">
        <p14:creationId xmlns:p14="http://schemas.microsoft.com/office/powerpoint/2010/main" val="993241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B48C-5C19-2F8A-9806-47656638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10212-457F-68AD-F4C2-FF8989DAD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Went Well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9B6DF-02D1-5949-3F59-780C528749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authentication system was implemented successfully</a:t>
            </a:r>
          </a:p>
          <a:p>
            <a:r>
              <a:rPr lang="en-US" dirty="0"/>
              <a:t>Frontend and backend integration worked correctly.</a:t>
            </a:r>
          </a:p>
          <a:p>
            <a:r>
              <a:rPr lang="en-US" dirty="0"/>
              <a:t>MongoDB database connection was established.</a:t>
            </a:r>
          </a:p>
          <a:p>
            <a:r>
              <a:rPr lang="en-US" dirty="0"/>
              <a:t>API testing using Postman helped verify functionality.</a:t>
            </a:r>
          </a:p>
          <a:p>
            <a:r>
              <a:rPr lang="en-US" dirty="0"/>
              <a:t>Team members collaborated effectively during the sprint.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486A4-87D3-D7D8-4919-389491557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 Didn’t Go Well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B1491-6DFC-059E-57A3-75FAC5C9F0F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 tasks required more time than originally estimated.</a:t>
            </a:r>
          </a:p>
          <a:p>
            <a:r>
              <a:rPr lang="en-US" dirty="0"/>
              <a:t>Minor bugs occurred during API integration.</a:t>
            </a:r>
          </a:p>
          <a:p>
            <a:r>
              <a:rPr lang="en-US" dirty="0"/>
              <a:t>UI improvements were delayed due to focus on backend features.</a:t>
            </a:r>
          </a:p>
          <a:p>
            <a:r>
              <a:rPr lang="en-US" dirty="0"/>
              <a:t>One user story was not completed during the sprint.</a:t>
            </a:r>
          </a:p>
        </p:txBody>
      </p:sp>
    </p:spTree>
    <p:extLst>
      <p:ext uri="{BB962C8B-B14F-4D97-AF65-F5344CB8AC3E}">
        <p14:creationId xmlns:p14="http://schemas.microsoft.com/office/powerpoint/2010/main" val="3248036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A96D-DBD4-E3CF-C61A-26A2E9F1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EAC4-1055-71D1-5DE3-23F32468A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sprint planning and task estimation.</a:t>
            </a:r>
          </a:p>
          <a:p>
            <a:r>
              <a:rPr lang="en-US" dirty="0"/>
              <a:t>Allocate additional time for testing and debugging.</a:t>
            </a:r>
          </a:p>
          <a:p>
            <a:r>
              <a:rPr lang="en-US" dirty="0"/>
              <a:t>Complete the remaining user story.</a:t>
            </a:r>
          </a:p>
          <a:p>
            <a:r>
              <a:rPr lang="en-US" dirty="0"/>
              <a:t>Improve the dashboard UI and user experience.</a:t>
            </a:r>
          </a:p>
          <a:p>
            <a:r>
              <a:rPr lang="en-US" dirty="0"/>
              <a:t>Maintain regular team communication and progress tracking.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23B3A-9E3D-A978-1A82-B9171A7C8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Improvements for Next Sprint</a:t>
            </a:r>
          </a:p>
        </p:txBody>
      </p:sp>
    </p:spTree>
    <p:extLst>
      <p:ext uri="{BB962C8B-B14F-4D97-AF65-F5344CB8AC3E}">
        <p14:creationId xmlns:p14="http://schemas.microsoft.com/office/powerpoint/2010/main" val="403696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• Registration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Authentication entry point with modern React UI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a7c44abd-d493-4b7b-a085-43e562b27a8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383" y="2450405"/>
            <a:ext cx="7314194" cy="41332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F8439-356B-914F-8066-6B1453C5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D66739-481B-A85E-F4D6-ACE1C63EC888}"/>
              </a:ext>
            </a:extLst>
          </p:cNvPr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• Login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2F133B-6085-7A13-91EF-C047BE358E91}"/>
              </a:ext>
            </a:extLst>
          </p:cNvPr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09CABA-814C-DAC2-38BE-13E7FA664FF6}"/>
              </a:ext>
            </a:extLst>
          </p:cNvPr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Authentication entry point with modern React UI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5A355-1067-C9C2-91E1-AFBF4CD44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299" y="2304852"/>
            <a:ext cx="7070104" cy="441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73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4227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• Dashboard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Usage metrics and tool navigation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a913ccf0-d49d-4597-9a3e-4bda81d8d73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890" y="2378676"/>
            <a:ext cx="8388220" cy="42032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428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• Graphs &amp; Activity Panels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95715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Tool distribution, activity, and dashboard insights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407654ee-8b5b-43f7-976b-eb798e492ad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069" y="2328921"/>
            <a:ext cx="7857382" cy="42547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CB679-0D56-2E73-4151-871A9BF3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2D2DE5-368A-1543-0177-23A8F0E21C1E}"/>
              </a:ext>
            </a:extLst>
          </p:cNvPr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</a:rPr>
              <a:t>MongoDB Collection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27915A-3410-E922-6B44-BED10931E9B9}"/>
              </a:ext>
            </a:extLst>
          </p:cNvPr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877CA9-F916-887F-9E56-D66771A75EC7}"/>
              </a:ext>
            </a:extLst>
          </p:cNvPr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 0" descr="/mnt/data/12a621fb-d99f-46f9-b4dd-b0361a7a7ee8.jpeg">
            <a:extLst>
              <a:ext uri="{FF2B5EF4-FFF2-40B4-BE49-F238E27FC236}">
                <a16:creationId xmlns:a16="http://schemas.microsoft.com/office/drawing/2014/main" id="{B2B33E35-E429-48B2-E4B3-BBE9B33D7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106" y="2360645"/>
            <a:ext cx="8083788" cy="431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79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Testing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Postman validation of register/login endpoints and API responses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132A7C-263B-CE72-EF52-6BF908331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19" y="2346184"/>
            <a:ext cx="6457361" cy="42313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F2D26-B5E7-027A-1BF8-741719A0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956401-A3EC-6C2D-8A5D-FACC9EAC3895}"/>
              </a:ext>
            </a:extLst>
          </p:cNvPr>
          <p:cNvSpPr/>
          <p:nvPr/>
        </p:nvSpPr>
        <p:spPr>
          <a:xfrm>
            <a:off x="548640" y="4236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Testing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119996-4DAB-5AA0-59A8-8C17FDA6F12E}"/>
              </a:ext>
            </a:extLst>
          </p:cNvPr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252668-A426-6801-6FCB-9BB28A8EC0A0}"/>
              </a:ext>
            </a:extLst>
          </p:cNvPr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Postman validation of register/login endpoints and API responses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B476A0-CBD8-ED8B-B245-35DE260BE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905" y="2393347"/>
            <a:ext cx="6608189" cy="43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57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428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Metrics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95715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50579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Execution summary for the current sprint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700971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/>
              <a:t>Committed tasks: 14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Completed tasks: 12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Completed/Committed ratio: 86%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Velocity: 12 story points</a:t>
            </a:r>
          </a:p>
        </p:txBody>
      </p:sp>
      <p:sp>
        <p:nvSpPr>
          <p:cNvPr id="9" name="Text 7"/>
          <p:cNvSpPr/>
          <p:nvPr/>
        </p:nvSpPr>
        <p:spPr>
          <a:xfrm>
            <a:off x="6629400" y="278575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Sprint 2 Focus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021011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/>
              <a:t>Improve flashcard generation quality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Expand voice translation workflows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Refine UI polish and responsiveness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Add more feature-level analytics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95623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Demo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1064240" cy="0"/>
          </a:xfrm>
          <a:prstGeom prst="line">
            <a:avLst/>
          </a:prstGeom>
          <a:noFill/>
          <a:ln w="12700">
            <a:solidFill>
              <a:srgbClr val="6AA5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</a:rPr>
              <a:t>Recommended flow for the live walkthrough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/>
              <a:t>Create a user account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Log in successfully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Show dashboard metrics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Open translator/summarizer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Demonstrate PDF flashcards</a:t>
            </a:r>
          </a:p>
        </p:txBody>
      </p:sp>
      <p:sp>
        <p:nvSpPr>
          <p:cNvPr id="9" name="Text 7"/>
          <p:cNvSpPr/>
          <p:nvPr/>
        </p:nvSpPr>
        <p:spPr>
          <a:xfrm>
            <a:off x="6629400" y="2580479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Professor Takeaways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01168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/>
              <a:t>Evidence of full-stack implementation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Clear modular architecture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API integration and database persistence</a:t>
            </a:r>
          </a:p>
          <a:p>
            <a:pPr marL="177800" indent="-177800">
              <a:buSzPct val="100000"/>
              <a:buChar char="•"/>
            </a:pPr>
            <a:r>
              <a:rPr lang="en-US" sz="1800" dirty="0"/>
              <a:t>Agile sprint tracking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E8BD2A-4014-4DC6-A228-4ECE6A0A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896CA42-3323-41E5-B809-CD790B2A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EA2FE539-0B6F-4FAE-A391-B46476F46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D5A14FB-50A2-4964-8B07-EE40D1CE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FD63331C-DD2E-43D8-9511-B44EC057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B968D-15C0-8257-E4BA-BC8A00FBE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71" y="437513"/>
            <a:ext cx="6232398" cy="59543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33468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247</TotalTime>
  <Words>1837</Words>
  <Application>Microsoft Office PowerPoint</Application>
  <PresentationFormat>Widescreen</PresentationFormat>
  <Paragraphs>373</Paragraphs>
  <Slides>37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 Display</vt:lpstr>
      <vt:lpstr>Arial</vt:lpstr>
      <vt:lpstr>Calibri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Persona-1</vt:lpstr>
      <vt:lpstr>User Persona-2</vt:lpstr>
      <vt:lpstr>User Persona-3</vt:lpstr>
      <vt:lpstr>PowerPoint Presentation</vt:lpstr>
      <vt:lpstr>MINIMAL VIABLE PRODUCT (MVP)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  BACKLOG </vt:lpstr>
      <vt:lpstr>PRODUCT  BACKLOG </vt:lpstr>
      <vt:lpstr>ACCEPTANCE CRITERIA &amp; USER STORIES </vt:lpstr>
      <vt:lpstr>Test Cases</vt:lpstr>
      <vt:lpstr>Test Cases</vt:lpstr>
      <vt:lpstr>STROIES COMPLETED   </vt:lpstr>
      <vt:lpstr>STROIES NOT COMPLETED   </vt:lpstr>
      <vt:lpstr>Metrices</vt:lpstr>
      <vt:lpstr>Metrices</vt:lpstr>
      <vt:lpstr>Sprint Retrospective</vt:lpstr>
      <vt:lpstr>Sprint Retrospective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Toolkit Presentation</dc:title>
  <dc:subject>AI Toolkit Sprint Presentation</dc:subject>
  <dc:creator>OpenAI</dc:creator>
  <cp:lastModifiedBy>pratham patel</cp:lastModifiedBy>
  <cp:revision>31</cp:revision>
  <dcterms:created xsi:type="dcterms:W3CDTF">2026-03-09T14:21:41Z</dcterms:created>
  <dcterms:modified xsi:type="dcterms:W3CDTF">2026-03-10T15:12:26Z</dcterms:modified>
</cp:coreProperties>
</file>